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57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mini_Generated_Image_540pc0540pc0540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663440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multidimensional y predicción de accidentes cerebrovasculares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13232" y="5440680"/>
            <a:ext cx="4023360" cy="0"/>
          </a:xfrm>
          <a:prstGeom prst="line">
            <a:avLst/>
          </a:prstGeom>
          <a:noFill/>
          <a:ln w="38100">
            <a:solidFill>
              <a:srgbClr val="17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56052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Aprendizaje de Máquina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supervisado y no supervisado para ACV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60920" y="548640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0F3048"/>
          </a:solidFill>
          <a:ln w="12700">
            <a:solidFill>
              <a:srgbClr val="17E6E6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1232" y="560527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Autor: Anthoni Hernandez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71232" y="5852160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estudiantil 2191198 · UIS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Propósito del proyecto: pasar de datos clínicos a perfiles de riesgo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4846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fue construir un pipeline de Machine Learning capaz de clasificar riesgo de ACV y, además, perfilar grupos clínicos ocultos. El trabajo no se quedó en un solo modelo: comparó limpieza, escalado, modelos supervisados y aprendizaje no supervisado.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7E6E6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" y="29535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2104" y="3355848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clínicos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542032" y="27889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33D6B8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88336" y="29535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D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88336" y="3355848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originales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398264" y="27889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5C542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44568" y="295351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44568" y="3355848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ACV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13232" y="4160520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00B8D9">
              <a:alpha val="88000"/>
            </a:srgbClr>
          </a:solidFill>
          <a:ln w="8890">
            <a:solidFill>
              <a:srgbClr val="00B8D9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33672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pd.read_csv(sep=";")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724912" y="41605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423367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ML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187952" y="41605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233672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objetivo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446520" y="1170432"/>
            <a:ext cx="4617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0" descr="/mnt/data/nb_images/md_cell001_82f53d0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869141"/>
            <a:ext cx="4489704" cy="1083141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central: el proyecto combina predicción del evento y descubrimiento de patrones clínicos accionables.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Dataset: variables que describen contexto, salud y estilo de vida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8_0_dd814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34727"/>
            <a:ext cx="4946904" cy="20626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0789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72200" y="1078992"/>
            <a:ext cx="54864" cy="96012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3368" y="124358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continuas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73368" y="1591056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avg_glucose_level y bmi. Son el centro de la señal biométrica y por eso requieren escalado.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0F3048"/>
          </a:solidFill>
          <a:ln w="12700">
            <a:solidFill>
              <a:srgbClr val="33D6B8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331720"/>
            <a:ext cx="54864" cy="1143000"/>
          </a:xfrm>
          <a:prstGeom prst="rect">
            <a:avLst/>
          </a:prstGeom>
          <a:solidFill>
            <a:srgbClr val="33D6B8"/>
          </a:solidFill>
          <a:ln w="12700">
            <a:solidFill>
              <a:srgbClr val="33D6B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categóricas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73368" y="2843784"/>
            <a:ext cx="4855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ever_married, work_type, Residence_type y smoking_status se transformaron con codificación para que los modelos pudieran leerlas.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172200" y="3794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3794760"/>
            <a:ext cx="54864" cy="9144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395935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73368" y="430682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es binaria: 1 indica evento de ACV, 0 indica paciente sin evento.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6263640" y="507492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5148072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get_dummies()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7735824" y="507492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514807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binario: stroke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9692640" y="507492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02368" y="5148072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DataFrame: 5110 x 11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del dataset obliga a unir estadística descriptiva, preprocesamiento y validación de modelos.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trabajado: limpieza, entrenamiento y perfilamiento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76656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17E6E6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con separador correcto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2935224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23D59"/>
          </a:solidFill>
          <a:ln w="12700">
            <a:solidFill>
              <a:srgbClr val="17E6E6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152704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81528" y="1929384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DropNA vs imputación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193792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17E6E6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52704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0096" y="1929384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para distancias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45236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23D59"/>
          </a:solidFill>
          <a:ln w="12700">
            <a:solidFill>
              <a:srgbClr val="17E6E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152704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98664" y="1929384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DT, RF, SVM, MLP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9710928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F5C542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57232" y="152704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supervisado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57232" y="1929384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PCA, K-Means, DBSCAN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7240" y="3063240"/>
            <a:ext cx="107442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0" descr="/mnt/data/nb_images/out_cell063_1_bb03a0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037" y="3127248"/>
            <a:ext cx="5896607" cy="234086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68680" y="5724144"/>
            <a:ext cx="214884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" y="579729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train_test_split(stratify=y)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3200400" y="5724144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0128" y="5797296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StandardScaler()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4818888" y="5724144"/>
            <a:ext cx="82296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28616" y="579729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SVC()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5852160" y="572414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1E88E5">
              <a:alpha val="88000"/>
            </a:srgbClr>
          </a:solidFill>
          <a:ln w="8890">
            <a:solidFill>
              <a:srgbClr val="1E88E5">
                <a:alpha val="9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61888" y="5797296"/>
            <a:ext cx="557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PCA()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6858000" y="5724144"/>
            <a:ext cx="182880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67728" y="5797296"/>
            <a:ext cx="1609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KMeans() / DBSCAN()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 evita depender de una métrica aislada y permite contrastar decisiones técnicas.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Desbalance severo: el problema real no es la exactitud, es el recall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E88E5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39903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4.861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23544" y="180136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sin ACV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23544" y="1984248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95,13 %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F4D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72384" y="139903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72384" y="180136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con ACV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3072384" y="1984248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4,87 %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777240" y="2633472"/>
            <a:ext cx="43891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que prediga “todos sanos” puede parecer bueno en accuracy, pero sería inútil clínicamente. Por eso se priorizó TPR/recall de la clase positiva.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4023360" cy="297180"/>
          </a:xfrm>
          <a:prstGeom prst="rect">
            <a:avLst/>
          </a:prstGeom>
          <a:solidFill>
            <a:srgbClr val="00B8D9"/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32511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953512" y="432511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68680" y="4549140"/>
            <a:ext cx="4023360" cy="29718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62229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953512" y="462229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global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68680" y="4846320"/>
            <a:ext cx="4023360" cy="297180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91947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 / Recall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953512" y="491947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ACV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5143500"/>
            <a:ext cx="4023360" cy="29718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521665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953512" y="5216652"/>
            <a:ext cx="18653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sanos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715000" y="1143000"/>
            <a:ext cx="5806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0" descr="/mnt/data/nb_images/out_cell049_0_b9d4b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470310"/>
            <a:ext cx="5678424" cy="1871659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68680" y="5632704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" y="5705856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recall_score()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2331720" y="5632704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41448" y="5705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class_weight="balanced"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datos médicos desbalanceados, el recall positivo pesa más que una accuracy vistosa.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Calidad de datos: el BMI concentró el problema de valores faltantes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5C542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35331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1755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nulos en BMI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F4D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9504" y="135331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89504" y="1755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dentro de esos nulos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773168" y="11887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F8C42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35331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1755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positivos si se borra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49808" y="2487168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columna bmi no podía tratarse como un detalle menor. Borrar filas eliminaba una fracción sensible de la clase más importante.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59168" y="107899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0" descr="/mnt/data/nb_images/out_cell026_0_0616a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536187"/>
            <a:ext cx="4215384" cy="1566169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22960" y="37033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377647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df.isna().sum()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2395728" y="3703320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05456" y="377647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dropna()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3493008" y="370332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377647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bmi.fillna(median)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clave: limpiar sin destruir información crítica de la clase minoritaria.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DropNA contra imputación: dos rutas para medir el sesgo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0F3048"/>
          </a:solidFill>
          <a:ln w="12700">
            <a:solidFill>
              <a:srgbClr val="FF4D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34440"/>
            <a:ext cx="54864" cy="1417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903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1: DropNA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46504"/>
            <a:ext cx="46725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eliminaron todas las filas con BMI faltante. El dataset bajó a 4.909 registros y los casos positivos quedaron en 209.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13232" y="28803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0F3048"/>
          </a:solidFill>
          <a:ln w="12700">
            <a:solidFill>
              <a:srgbClr val="4CE0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880360"/>
            <a:ext cx="54864" cy="1417320"/>
          </a:xfrm>
          <a:prstGeom prst="rect">
            <a:avLst/>
          </a:prstGeom>
          <a:solidFill>
            <a:srgbClr val="4CE06D"/>
          </a:solidFill>
          <a:ln w="12700">
            <a:solidFill>
              <a:srgbClr val="4CE0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4495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2: Imputado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92424"/>
            <a:ext cx="46725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conservó la totalidad de registros. El dataset mantuvo 5.110 pacientes y los 249 casos positivos.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F4D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9944" y="144475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9944" y="184708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DropNA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54964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4CE0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95944" y="144475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95944" y="184708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imputados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406640" y="2834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5C542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52944" y="299923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52944" y="34015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positivos recuperados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327648" y="4434840"/>
            <a:ext cx="4709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se mantuvo durante todo el proyecto para revisar si la imputación deformaba la topología de los datos.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imputación ganó sentido porque rescató evidencia clínica sin romper la estructura general del dataset.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Codificación y partición: preparar datos sin perder proporción de ACV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2_0_6b8544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281235"/>
            <a:ext cx="5221224" cy="21217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1430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1143000"/>
            <a:ext cx="54864" cy="123444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47688" y="130759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47688" y="1655064"/>
            <a:ext cx="4352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variables categóricas se convirtieron a columnas binarias para que Decision Tree, Random Forest, SVM y PCA pudieran procesarlas.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446520" y="2633472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F3048"/>
          </a:solidFill>
          <a:ln w="12700">
            <a:solidFill>
              <a:srgbClr val="33D6B8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633472"/>
            <a:ext cx="54864" cy="1143000"/>
          </a:xfrm>
          <a:prstGeom prst="rect">
            <a:avLst/>
          </a:prstGeom>
          <a:solidFill>
            <a:srgbClr val="33D6B8"/>
          </a:solidFill>
          <a:ln w="12700">
            <a:solidFill>
              <a:srgbClr val="33D6B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47688" y="279806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estratificada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47688" y="3145536"/>
            <a:ext cx="4352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usó estratificación para que train y test conservaran una proporción similar de pacientes con ACV.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446520" y="4224528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7E6E6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92824" y="4389120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3.927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92824" y="4791456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DropNA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8119872" y="4224528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7E6E6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66176" y="4389120"/>
            <a:ext cx="1033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266176" y="479145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DropNA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9619488" y="4224528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4CE0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65792" y="4389120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4.088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765792" y="4791456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imputado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6492240" y="548640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01968" y="5559552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pd.get_dummies()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8229600" y="5486400"/>
            <a:ext cx="233172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5559552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train_test_split(stratify=y)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preparación técnica fue tan importante como el modelo: sin estratificación, el recall queda contaminado.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Lectura demográfica: residencia, género y trabajo equilibran el contexto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115568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8_0_dd814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269263"/>
            <a:ext cx="4992624" cy="20817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261872"/>
            <a:ext cx="4983480" cy="400050"/>
          </a:xfrm>
          <a:prstGeom prst="rect">
            <a:avLst/>
          </a:prstGeom>
          <a:solidFill>
            <a:srgbClr val="00B8D9"/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45352" y="133502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8737092" y="133502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172200" y="1661922"/>
            <a:ext cx="4983480" cy="40005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5352" y="173507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Género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8737092" y="173507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2.994 mujeres / 2.115 hombres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172200" y="2061972"/>
            <a:ext cx="4983480" cy="400050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45352" y="213512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8737092" y="213512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2.596 urbana / 2.514 rural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72200" y="2462022"/>
            <a:ext cx="4983480" cy="40005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5352" y="253517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737092" y="2535174"/>
            <a:ext cx="2345436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2.925 sector privado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217920" y="3246120"/>
            <a:ext cx="4800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muestra es amplia y contiene perfiles de empleo, residencia y estado civil. Estos atributos no reemplazan a las variables clínicas, pero ayudan a contextualizar el riesgo.</a:t>
            </a:r>
            <a:endParaRPr lang="en-US" sz="1480" dirty="0"/>
          </a:p>
        </p:txBody>
      </p:sp>
      <p:sp>
        <p:nvSpPr>
          <p:cNvPr id="20" name="Shape 17"/>
          <p:cNvSpPr/>
          <p:nvPr/>
        </p:nvSpPr>
        <p:spPr>
          <a:xfrm>
            <a:off x="6263640" y="480060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73368" y="4873752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value_counts()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7754112" y="480060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4873752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crosstab()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demografía aporta contexto, pero no debe sobredimensionarse frente a edad, glucosa y condiciones cardiovasculares.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RIESGO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Edad y glucosa: las variables clínicas con señal más clara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49808" y="11430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E88E5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30759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170992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media sin ACV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96112" y="1892808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944368" y="11430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F4D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90672" y="130759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90672" y="170992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media con ACV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3090672" y="1892808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138928" y="11430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F5C542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85232" y="130759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132,5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5232" y="170992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glucosa media con ACV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285232" y="1892808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mg/dL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6172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edad separa mejor que casi cualquier otra variable, pero la frontera no es limpia: existen pacientes sanos y pacientes con ACV en rangos compartidos.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7543800" y="1078992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 descr="/mnt/data/nb_images/out_cell065_0_7d8cf9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2617789"/>
            <a:ext cx="3758184" cy="144868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68680" y="3886200"/>
            <a:ext cx="205740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8408" y="3959352"/>
            <a:ext cx="1837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groupby("stroke").mean()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3108960" y="388620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18688" y="395935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avg_glucose_level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4892040" y="3886200"/>
            <a:ext cx="68580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01768" y="3959352"/>
            <a:ext cx="466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existe, pero la superposición biológica impide resolver el problema con reglas lineales simples.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Tabaquismo: variable de estilo de vida con lectura bivariada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4_4_0173b2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7296"/>
            <a:ext cx="5404104" cy="23262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23444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1234440"/>
            <a:ext cx="54864" cy="100584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0568" y="139903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contrastó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30568" y="17465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cruzó smoking_status contra stroke para observar porcentajes de ACV dentro de cada categoría.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629400" y="2542032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F3048"/>
          </a:solidFill>
          <a:ln w="12700">
            <a:solidFill>
              <a:srgbClr val="33D6B8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542032"/>
            <a:ext cx="54864" cy="1005840"/>
          </a:xfrm>
          <a:prstGeom prst="rect">
            <a:avLst/>
          </a:prstGeom>
          <a:solidFill>
            <a:srgbClr val="33D6B8"/>
          </a:solidFill>
          <a:ln w="12700">
            <a:solidFill>
              <a:srgbClr val="33D6B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2706624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observa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30568" y="305409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historial de fumador permite perfilar riesgo, pero no separa por sí solo la clase positiva.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629400" y="3849624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29400" y="3849624"/>
            <a:ext cx="54864" cy="100584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0568" y="4014216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usada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30568" y="436168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pd.crosstab(..., normalize="index") permite comparar porcentajes y no solo conteos absolutos.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6693408" y="521208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03136" y="5285232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pd.crosstab()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tabaquismo aporta una capa explicativa, pero el riesgo clínico sigue siendo multivariable.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ESTADÍSTICO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Correlaciones: mapa rápido de la señal, no diagnóstico final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548640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2_0_6b8544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257938"/>
            <a:ext cx="5358384" cy="21775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5392" y="1325880"/>
            <a:ext cx="44805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heatmap ayudó a detectar qué columnas se relacionan más con stroke después de codificar las variables categóricas. Edad, glucosa y condiciones clínicas aparecen como señales más fuertes.</a:t>
            </a:r>
            <a:endParaRPr lang="en-US" sz="1480" dirty="0"/>
          </a:p>
        </p:txBody>
      </p:sp>
      <p:sp>
        <p:nvSpPr>
          <p:cNvPr id="8" name="Shape 5"/>
          <p:cNvSpPr/>
          <p:nvPr/>
        </p:nvSpPr>
        <p:spPr>
          <a:xfrm>
            <a:off x="6565392" y="2999232"/>
            <a:ext cx="4389120" cy="354330"/>
          </a:xfrm>
          <a:prstGeom prst="rect">
            <a:avLst/>
          </a:prstGeom>
          <a:solidFill>
            <a:srgbClr val="00B8D9"/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38544" y="307238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8833104" y="307238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6565392" y="3353562"/>
            <a:ext cx="4389120" cy="35433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342671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833104" y="342671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señal positiva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565392" y="3707892"/>
            <a:ext cx="4389120" cy="354330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8544" y="378104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Glucosa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833104" y="378104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metabólico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565392" y="4062222"/>
            <a:ext cx="4389120" cy="35433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413537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833104" y="4135374"/>
            <a:ext cx="204825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con outliers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629400" y="4864608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39128" y="493776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df.corr()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7699248" y="4864608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08976" y="4937760"/>
            <a:ext cx="649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8723376" y="4864608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33104" y="4937760"/>
            <a:ext cx="557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correlación orienta el análisis, pero la decisión de modelo se tomó con validación y métricas clínicas.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Outliers y escalado: por qué la normalización era obligatoria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26_0_0616a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391801"/>
            <a:ext cx="4992624" cy="18549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14300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14300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130759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con valores extremos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64808" y="1655064"/>
            <a:ext cx="4489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rango de BMI va de 10,3 a 97,6. La media puede distorsionarse y por eso la mediana fue una decisión prudente para imputar.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263640" y="269748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697480"/>
            <a:ext cx="54864" cy="132588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286207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sensibles a escala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64808" y="3209544"/>
            <a:ext cx="4489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SVM, PCA, K-Means y DBSCAN dependen de distancias. Sin escalado, glucosa dominaría el espacio geométrico.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327648" y="434340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441655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StandardScaler()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8028432" y="4343400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4416552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median()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9171432" y="4343400"/>
            <a:ext cx="64008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441655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escalado, el modelo aprende unidades de medida, no relaciones clínicas.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TÉCNICA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StandardScaler contra MinMaxScaler: la escala cambia la geometría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85216" y="1069848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68_0_4a3f0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84620"/>
            <a:ext cx="5404104" cy="20052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069848"/>
            <a:ext cx="523951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68_1_ed202c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338312"/>
            <a:ext cx="5111496" cy="1897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5623560"/>
            <a:ext cx="146304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5696712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MinMaxScaler()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2578608" y="562356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88336" y="569671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StandardScaler()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370832" y="5623560"/>
            <a:ext cx="233172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5696712"/>
            <a:ext cx="2112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(x - media) / desviación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final favoreció StandardScaler porque preservó mejor la morfología frente a outliers de glucosa.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Modelado supervisado: comparar modelos antes de decidir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7406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63_1_bb03a0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7380"/>
            <a:ext cx="7278624" cy="2889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1887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F3048"/>
          </a:solidFill>
          <a:ln w="12700">
            <a:solidFill>
              <a:srgbClr val="FF4D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321040" y="1188720"/>
            <a:ext cx="54864" cy="13258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35331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real de selección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22208" y="1700784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escogió el modelo solo por accuracy. En un problema de ACV, fallar positivos es más grave que alertar de más.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8321040" y="27889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21040" y="2788920"/>
            <a:ext cx="54864" cy="114300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295351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evaluados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22208" y="3300984"/>
            <a:ext cx="2843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DecisionTreeClassifier, RandomForestClassifier, SVC y MLPClassifier.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8394192" y="4325112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1E88E5">
              <a:alpha val="88000"/>
            </a:srgbClr>
          </a:solidFill>
          <a:ln w="8890">
            <a:solidFill>
              <a:srgbClr val="1E88E5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4398264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accuracy_score()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10012680" y="432511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22408" y="4398264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recall_score()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final obliga a mirar desempeño global y sensibilidad clínica al mismo tiempo.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Árbol de decisión: profundidad baja detecta, profundidad alta sobreajusta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41_0_040698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1621"/>
            <a:ext cx="5358384" cy="19895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078992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40_0_873dd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109798"/>
            <a:ext cx="4809744" cy="237322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196596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1746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DecisionTreeClassifier()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3063240" y="562356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72968" y="569671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max_depth=1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480560" y="562356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0288" y="569671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max_depth=4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árbol nivel 4 equilibró mejor recall y especificidad que un árbol demasiado simple o totalmente libre.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Random Forest: muchos árboles reducen inestabilidad, pero no eliminan el desbalance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525780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46_1_1f0f18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76065"/>
            <a:ext cx="5129784" cy="19047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9632" y="1078992"/>
            <a:ext cx="525780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47_1_7b608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76065"/>
            <a:ext cx="5129784" cy="19047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32704"/>
            <a:ext cx="214884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70585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RandomForestClassifier()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3246120" y="5632704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33D6B8">
              <a:alpha val="88000"/>
            </a:srgbClr>
          </a:solidFill>
          <a:ln w="8890">
            <a:solidFill>
              <a:srgbClr val="33D6B8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55848" y="5705856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681728" y="5632704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91456" y="570585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class_weight="balanced"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bosque suaviza decisiones individuales, pero el recall positivo sigue dependiendo del manejo de clases.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SVM: el margen máximo se probó con kernels lineal, polinomial y RBF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303520" cy="457200"/>
          </a:xfrm>
          <a:prstGeom prst="rect">
            <a:avLst/>
          </a:prstGeom>
          <a:solidFill>
            <a:srgbClr val="00B8D9"/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161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2130552" y="12161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456432" y="12161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 ACV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4782312" y="12161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303520" cy="45720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6733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 DropNA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130552" y="16733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0,748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456432" y="16733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0,802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782312" y="16733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alto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1520" y="2057400"/>
            <a:ext cx="5303520" cy="457200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1305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imputado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130552" y="21305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0,746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456432" y="21305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0,696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82312" y="21305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estable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2514600"/>
            <a:ext cx="5303520" cy="457200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5877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 DropNA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130552" y="25877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0,820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456432" y="25877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0,556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782312" y="258775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engañosa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68096" y="3273552"/>
            <a:ext cx="5120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busca una frontera de separación. En datos clínicos solapados, los kernels permiten revisar si una frontera curva captura mejor el riesgo.</a:t>
            </a:r>
            <a:endParaRPr lang="en-US" sz="1480" dirty="0"/>
          </a:p>
        </p:txBody>
      </p:sp>
      <p:sp>
        <p:nvSpPr>
          <p:cNvPr id="26" name="Shape 24"/>
          <p:cNvSpPr/>
          <p:nvPr/>
        </p:nvSpPr>
        <p:spPr>
          <a:xfrm>
            <a:off x="6419088" y="109728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0" descr="/mnt/data/nb_images/out_cell055_1_25ed34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155742"/>
            <a:ext cx="4855464" cy="2409356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41248" y="461772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469087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SVC(kernel="linear")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2807208" y="461772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16936" y="469087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SVC(kernel="rbf")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4590288" y="46177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0016" y="4690872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métrica clínica permitió detectar cuándo una accuracy superior escondía peor sensibilidad.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Validación cruzada: KFold fallaba cuando los positivos quedaban mal repartidos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3504" y="1078992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51_3_63fc6f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37170"/>
            <a:ext cx="5175504" cy="25642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9632" y="1078992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55_1_25ed34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039727"/>
            <a:ext cx="5157216" cy="25590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649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KFold()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1874520" y="562356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84248" y="56967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StratifiedKFold()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3840480" y="562356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50208" y="569671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cross_val_score()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Estratificar no es un lujo: en clase minoritaria evita particiones sin suficientes casos positivos.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Matriz de confusión: ver el error donde más duele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56_0_8a43d5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19022"/>
            <a:ext cx="5129784" cy="40462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234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FF4D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55080" y="1234440"/>
            <a:ext cx="54864" cy="12344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6248" y="139903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clínica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56248" y="1746504"/>
            <a:ext cx="4352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falsos negativos son el error más delicado porque representan pacientes con ACV que el modelo no detecta.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6355080" y="2724912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2724912"/>
            <a:ext cx="54864" cy="10972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56248" y="288950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operativa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56248" y="3236976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falsos positivos generan alertas adicionales, pero son menos críticos que dejar pasar un caso real.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355080" y="40690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55080" y="4069080"/>
            <a:ext cx="54864" cy="91440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56248" y="423367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usada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56248" y="458114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confusion_matrix() resume el resultado entre predicción y etiqueta real.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6446520" y="5330952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5404104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confusion_matrix()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traduce números a decisiones: detectar más ACV fue la prioridad técnica.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Red neuronal MLP: alta accuracy, baja sensibilidad para ACV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58_1_ceb676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49651"/>
            <a:ext cx="5358384" cy="19849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078992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61_1_42ab03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291494"/>
            <a:ext cx="4946904" cy="21012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MLPClassifier()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2578608" y="562356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88336" y="56967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hidden_layer_sizes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553712" y="562356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5696712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max_iter / epochs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dataset tabular y desbalanceado, más capas no significaron mejor detección de pacientes con ACV.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DIMENSIONAL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PCA: la visualización confirma la mezcla de sanos y pacientes con ACV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65_0_7d8cf9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97884"/>
            <a:ext cx="6455664" cy="2488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225296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17E6E6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72984" y="1389888"/>
            <a:ext cx="1581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52,3 %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72984" y="179222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varianza DropNA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9802368" y="1225296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F3048"/>
          </a:solidFill>
          <a:ln w="12700">
            <a:solidFill>
              <a:srgbClr val="4CE06D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948672" y="1389888"/>
            <a:ext cx="1581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52,2 %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948672" y="179222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varianza imputado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7726680" y="2670048"/>
            <a:ext cx="3703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reduce el espacio a dos componentes para observar forma y solapamiento. La mezcla de colores muestra que no hay una frontera lineal limpia.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7790688" y="4096512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0416" y="416966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PCA(n_components=2)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9875520" y="4096512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85248" y="416966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explained_variance_ratio_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reducción dimensional justificó buscar modelos no lineales y clusters de perfilamiento, no diagnóstico directo.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K-Means con K=2: forzar “sano/enfermo” no respeta la biología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70_1_957a9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5362"/>
            <a:ext cx="5266944" cy="39335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078992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70_3_a06367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409507"/>
            <a:ext cx="5175504" cy="38652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KMeans(n_clusters=2)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2944368" y="562356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54096" y="569671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fit_predict()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389120" y="56235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98848" y="569671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para graficar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 agrupó patrones generales de pacientes, pero no separó diagnóstico de ACV.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Fenotipos clínicos: K=4 permite perfiles accionables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74_2_818e50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7549"/>
            <a:ext cx="5266944" cy="3529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234440"/>
            <a:ext cx="4892040" cy="484632"/>
          </a:xfrm>
          <a:prstGeom prst="rect">
            <a:avLst/>
          </a:prstGeom>
          <a:solidFill>
            <a:srgbClr val="00B8D9"/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3952" y="1307592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Fenotipo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8104632" y="1307592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aproximado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9735312" y="1307592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6400800" y="1719072"/>
            <a:ext cx="4892040" cy="484632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1792224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104632" y="1792224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60 / Glucosa 207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9735312" y="1792224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12,5 %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6400800" y="2203704"/>
            <a:ext cx="4892040" cy="484632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2276856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104632" y="2276856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56 / Glucosa 90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9735312" y="2276856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5,7 %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6400800" y="2688336"/>
            <a:ext cx="4892040" cy="484632"/>
          </a:xfrm>
          <a:prstGeom prst="rect">
            <a:avLst/>
          </a:prstGeom>
          <a:solidFill>
            <a:srgbClr val="0F3048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2761488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8104632" y="2761488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41 / Glucosa 89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9735312" y="2761488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1,5 %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400800" y="3172968"/>
            <a:ext cx="4892040" cy="484632"/>
          </a:xfrm>
          <a:prstGeom prst="rect">
            <a:avLst/>
          </a:prstGeom>
          <a:solidFill>
            <a:srgbClr val="123D59">
              <a:alpha val="92000"/>
            </a:srgbClr>
          </a:solidFill>
          <a:ln w="6350">
            <a:solidFill>
              <a:srgbClr val="1D5E7C">
                <a:alpha val="5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3246120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8104632" y="3246120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14 / Glucosa 93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9735312" y="3246120"/>
            <a:ext cx="148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0,2 %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6446520" y="4069080"/>
            <a:ext cx="4572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no se usó como diagnóstico individual, sino como estratificador de población: bajo, moderado, alto y crítico.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473952" y="5166360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523951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KMeans(n_clusters=4)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8595360" y="516636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05088" y="5239512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cluster_centers_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fuerte fue no confundir clustering con diagnóstico: K=4 sirve para priorización poblacional.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Método del codo: escoger K con matemática, no por intuición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6080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76_0_e486c9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96028"/>
            <a:ext cx="5952744" cy="36922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78040" y="1243584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78040" y="1243584"/>
            <a:ext cx="54864" cy="123444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79208" y="140817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la inercia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79208" y="1755648"/>
            <a:ext cx="3666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inercia siempre baja al aumentar K. El codo busca el punto donde añadir clusters deja de aportar una mejora fuerte.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7178040" y="2761488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0F3048"/>
          </a:solidFill>
          <a:ln w="12700">
            <a:solidFill>
              <a:srgbClr val="4CE0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2761488"/>
            <a:ext cx="54864" cy="1234440"/>
          </a:xfrm>
          <a:prstGeom prst="rect">
            <a:avLst/>
          </a:prstGeom>
          <a:solidFill>
            <a:srgbClr val="4CE06D"/>
          </a:solidFill>
          <a:ln w="12700">
            <a:solidFill>
              <a:srgbClr val="4CE06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79208" y="2926080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79208" y="3273552"/>
            <a:ext cx="3666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 queda como equilibrio práctico: suficiente segmentación clínica sin convertir el resultado en 15 grupos difíciles de explicar.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7269480" y="437083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79208" y="4443984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inertia_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8366760" y="4370832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76488" y="4443984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range(1, 15)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9674352" y="4370832"/>
            <a:ext cx="68580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0" y="4443984"/>
            <a:ext cx="466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codo defendió la elección de K=4 como interpretación útil, no como adivinanza visual.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DBSCAN: densidad, vecindarios y puntos atípicos clínicos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79_0_2cd4de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78272"/>
            <a:ext cx="5266944" cy="252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078992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81_0_9dc3bc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105334"/>
            <a:ext cx="4992624" cy="24735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260604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2386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NearestNeighbors(n_neighbors=10)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3703320" y="5623560"/>
            <a:ext cx="214884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13048" y="5696712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DBSCAN(eps, min_samples)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6080760" y="56235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90488" y="569671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eps≈1,7 / 1,75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de k-distancias delimitó la zona de transición antes de fijar eps.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Sensibilidad topológica: extremos de eps muestran por qué calibrar importa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79_1_fbbd42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4508"/>
            <a:ext cx="5312664" cy="16952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7648" y="1078992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79_2_164223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538276"/>
            <a:ext cx="5038344" cy="160771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2148840" cy="301752"/>
          </a:xfrm>
          <a:prstGeom prst="roundRect">
            <a:avLst>
              <a:gd name="adj" fmla="val 24242"/>
            </a:avLst>
          </a:prstGeom>
          <a:solidFill>
            <a:srgbClr val="FF4D6D">
              <a:alpha val="88000"/>
            </a:srgbClr>
          </a:solidFill>
          <a:ln w="8890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eps=0,5: demasiado estricto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3246120" y="5623560"/>
            <a:ext cx="2057400" cy="301752"/>
          </a:xfrm>
          <a:prstGeom prst="roundRect">
            <a:avLst>
              <a:gd name="adj" fmla="val 24242"/>
            </a:avLst>
          </a:prstGeom>
          <a:solidFill>
            <a:srgbClr val="FF8C42">
              <a:alpha val="88000"/>
            </a:srgbClr>
          </a:solidFill>
          <a:ln w="8890">
            <a:solidFill>
              <a:srgbClr val="FF8C42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55848" y="5696712"/>
            <a:ext cx="1837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eps=5,0: demasiado laxo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5559552" y="56235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0" y="569671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min_samples=10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funciona como filtro de anomalías solo cuando eps se calibra en la frontera de densidad.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CLUSTERS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Resultado no supervisado final: perfilamiento estable entre DropNA e imputado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nb_images/out_cell083_1_75f61f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552032"/>
            <a:ext cx="5449824" cy="158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07899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00B8D9">
                <a:alpha val="4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mnt/data/nb_images/out_cell083_3_0d3836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598430"/>
            <a:ext cx="5129784" cy="14874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5623560"/>
            <a:ext cx="2148840" cy="301752"/>
          </a:xfrm>
          <a:prstGeom prst="roundRect">
            <a:avLst>
              <a:gd name="adj" fmla="val 24242"/>
            </a:avLst>
          </a:prstGeom>
          <a:solidFill>
            <a:srgbClr val="4CE06D">
              <a:alpha val="88000"/>
            </a:srgbClr>
          </a:solidFill>
          <a:ln w="8890">
            <a:solidFill>
              <a:srgbClr val="4CE06D">
                <a:alpha val="9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5696712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+ DBSCAN + PCA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3273552" y="5623560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F5C542">
              <a:alpha val="88000"/>
            </a:srgbClr>
          </a:solidFill>
          <a:ln w="8890">
            <a:solidFill>
              <a:srgbClr val="F5C542">
                <a:alpha val="9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56967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ruido clínico ≈0,2 %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5285232" y="56235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7E6E6">
              <a:alpha val="88000"/>
            </a:srgbClr>
          </a:solidFill>
          <a:ln w="8890">
            <a:solidFill>
              <a:srgbClr val="17E6E6">
                <a:alpha val="9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94960" y="5696712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topología estable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imputación conservó la forma general de los datos y permitió no perder pacientes críticos.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pic>
        <p:nvPicPr>
          <p:cNvPr id="3" name="Image 0" descr="/mnt/data/Gemini_Generated_Image_540pc0540pc0540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del proyecto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85800" y="1143000"/>
            <a:ext cx="5303520" cy="1078992"/>
          </a:xfrm>
          <a:prstGeom prst="roundRect">
            <a:avLst>
              <a:gd name="adj" fmla="val 6780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143000"/>
            <a:ext cx="54864" cy="1078992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30759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 problema es multidimensional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" y="1655064"/>
            <a:ext cx="4901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ACV se superpone con pacientes sanos. Por eso no basta una regla lineal ni una sola variable.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685800" y="2514600"/>
            <a:ext cx="5303520" cy="1078992"/>
          </a:xfrm>
          <a:prstGeom prst="roundRect">
            <a:avLst>
              <a:gd name="adj" fmla="val 6780"/>
            </a:avLst>
          </a:prstGeom>
          <a:solidFill>
            <a:srgbClr val="0F3048"/>
          </a:solidFill>
          <a:ln w="12700">
            <a:solidFill>
              <a:srgbClr val="4CE0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514600"/>
            <a:ext cx="54864" cy="1078992"/>
          </a:xfrm>
          <a:prstGeom prst="rect">
            <a:avLst/>
          </a:prstGeom>
          <a:solidFill>
            <a:srgbClr val="4CE06D"/>
          </a:solidFill>
          <a:ln w="12700">
            <a:solidFill>
              <a:srgbClr val="4CE06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267919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 imputación fue la decisión correcta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6968" y="3026664"/>
            <a:ext cx="4901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BMI faltante borraba 40 casos positivos. Imputar conservó la señal y no deformó fuertemente la topología.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6355080" y="1143000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1143000"/>
            <a:ext cx="54864" cy="107899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56248" y="13075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K-Means sirve para perfilar, no para diagnosticar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56248" y="1655064"/>
            <a:ext cx="4764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real de K=4 fue construir fenotipos de riesgo: bajo, moderado, alto y crítico.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6355080" y="2514600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0F3048"/>
          </a:solidFill>
          <a:ln w="12700">
            <a:solidFill>
              <a:srgbClr val="FF8C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2514600"/>
            <a:ext cx="54864" cy="10789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267919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DBSCAN aporta vigilancia de anomalías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56248" y="3026664"/>
            <a:ext cx="4764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calibración de eps permitió ubicar pacientes atípicos que merecen revisión personalizada.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960120" y="4709160"/>
            <a:ext cx="102412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conclusión personal: el curso dejó claro que un modelo no vale por verse complejo, sino por responder bien al problema real. En salud, el objetivo no es lucir accuracy, sino reducir omisiones peligrosas y explicar las decisiones con datos.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1201400" cy="0"/>
          </a:xfrm>
          <a:prstGeom prst="line">
            <a:avLst/>
          </a:prstGeom>
          <a:noFill/>
          <a:ln w="12700">
            <a:solidFill>
              <a:srgbClr val="1D5E7C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TÉCNICO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4206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y herramientas que sostienen el análisis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3048"/>
          </a:solidFill>
          <a:ln w="12700">
            <a:solidFill>
              <a:srgbClr val="17E6E6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54864" cy="1600200"/>
          </a:xfrm>
          <a:prstGeom prst="rect">
            <a:avLst/>
          </a:prstGeom>
          <a:solidFill>
            <a:srgbClr val="17E6E6"/>
          </a:solidFill>
          <a:ln w="12700">
            <a:solidFill>
              <a:srgbClr val="17E6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39903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74650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pd.read_csv()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get_dummies()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crosstab()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3048"/>
          </a:solidFill>
          <a:ln w="12700">
            <a:solidFill>
              <a:srgbClr val="4CE06D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234440"/>
            <a:ext cx="54864" cy="1600200"/>
          </a:xfrm>
          <a:prstGeom prst="rect">
            <a:avLst/>
          </a:prstGeom>
          <a:solidFill>
            <a:srgbClr val="4CE06D"/>
          </a:solidFill>
          <a:ln w="12700">
            <a:solidFill>
              <a:srgbClr val="4CE0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39903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6248" y="174650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train_test_split()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StratifiedKFold()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3048"/>
          </a:solidFill>
          <a:ln w="12700">
            <a:solidFill>
              <a:srgbClr val="FF8C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383280"/>
            <a:ext cx="54864" cy="1600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54787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supervisados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89534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DecisionTreeClassifier()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MLPClassifier()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355080" y="338328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3048"/>
          </a:solidFill>
          <a:ln w="12700">
            <a:solidFill>
              <a:srgbClr val="F5C542">
                <a:alpha val="7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383280"/>
            <a:ext cx="54864" cy="16002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354787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supervisado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6248" y="389534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DBSCAN()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A8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NearestNeighbors()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594360" y="6144768"/>
            <a:ext cx="10972800" cy="429768"/>
          </a:xfrm>
          <a:prstGeom prst="roundRect">
            <a:avLst>
              <a:gd name="adj" fmla="val 17021"/>
            </a:avLst>
          </a:prstGeom>
          <a:solidFill>
            <a:srgbClr val="0D3B4E">
              <a:alpha val="95000"/>
            </a:srgbClr>
          </a:solidFill>
          <a:ln w="12700">
            <a:solidFill>
              <a:srgbClr val="17E6E6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62270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funciones no se </a:t>
            </a:r>
            <a:r>
              <a:rPr lang="en-US" sz="1140" dirty="0" err="1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presentaron</a:t>
            </a: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dirty="0" err="1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1140" dirty="0">
                <a:solidFill>
                  <a:srgbClr val="F6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piezas del pipeline que justifican cada decisión técnica.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2340</Words>
  <Application>Microsoft Office PowerPoint</Application>
  <PresentationFormat>Panorámica</PresentationFormat>
  <Paragraphs>374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Industrial de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Multidimensional y Predicción de Accidentes Cerebrovasculares</dc:title>
  <dc:subject>Análisis multidimensional y predicción de ACV</dc:subject>
  <dc:creator>Anthoni Hernandez</dc:creator>
  <cp:lastModifiedBy>ANTHONI HERNANDEZ</cp:lastModifiedBy>
  <cp:revision>2</cp:revision>
  <dcterms:created xsi:type="dcterms:W3CDTF">2026-05-26T08:56:24Z</dcterms:created>
  <dcterms:modified xsi:type="dcterms:W3CDTF">2026-05-26T09:34:22Z</dcterms:modified>
</cp:coreProperties>
</file>